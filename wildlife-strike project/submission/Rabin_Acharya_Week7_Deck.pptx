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5b237e28cb4969" /><Relationship Type="http://schemas.openxmlformats.org/officeDocument/2006/relationships/extended-properties" Target="/docProps/app.xml" Id="R1621c5429b32471f" /><Relationship Type="http://schemas.openxmlformats.org/officeDocument/2006/relationships/officeDocument" Target="/ppt/presentation.xml" Id="Rfd8bba2d00a24de1" /></Relationships>
</file>

<file path=ppt/presentation.xml><?xml version="1.0" encoding="utf-8"?>
<p:presentation xmlns:p="http://schemas.openxmlformats.org/presentationml/2006/main">
  <p:sldMasterIdLst>
    <p:sldMasterId xmlns:r="http://schemas.openxmlformats.org/officeDocument/2006/relationships" id="2147483648" r:id="Rdf92dfc8ed554723"/>
  </p:sldMasterIdLst>
  <p:notesMasterIdLst>
    <p:notesMasterId xmlns:r="http://schemas.openxmlformats.org/officeDocument/2006/relationships" r:id="Rdc7e625bfb4341ad"/>
  </p:notesMasterIdLst>
  <p:sldIdLst>
    <p:sldId xmlns:r="http://schemas.openxmlformats.org/officeDocument/2006/relationships" id="256" r:id="Rc2be3b268df54fc2"/>
    <p:sldId xmlns:r="http://schemas.openxmlformats.org/officeDocument/2006/relationships" id="257" r:id="Re87f2aa828b74c70"/>
    <p:sldId xmlns:r="http://schemas.openxmlformats.org/officeDocument/2006/relationships" id="258" r:id="Rb5a2f9ed08d846aa"/>
    <p:sldId xmlns:r="http://schemas.openxmlformats.org/officeDocument/2006/relationships" id="259" r:id="Rbefbb04e8bd74065"/>
    <p:sldId xmlns:r="http://schemas.openxmlformats.org/officeDocument/2006/relationships" id="260" r:id="Re728d7ec42b74cbb"/>
    <p:sldId xmlns:r="http://schemas.openxmlformats.org/officeDocument/2006/relationships" id="261" r:id="R4a2bdeea37754728"/>
    <p:sldId xmlns:r="http://schemas.openxmlformats.org/officeDocument/2006/relationships" id="262" r:id="R712dac0910594d20"/>
    <p:sldId xmlns:r="http://schemas.openxmlformats.org/officeDocument/2006/relationships" id="263" r:id="R7718e33d51e94e93"/>
    <p:sldId xmlns:r="http://schemas.openxmlformats.org/officeDocument/2006/relationships" id="264" r:id="Ra27e7ad3bcee4a62"/>
    <p:sldId xmlns:r="http://schemas.openxmlformats.org/officeDocument/2006/relationships" id="265" r:id="Refbbdf1b3ba24bc0"/>
    <p:sldId xmlns:r="http://schemas.openxmlformats.org/officeDocument/2006/relationships" id="266" r:id="R697b10675f004921"/>
    <p:sldId xmlns:r="http://schemas.openxmlformats.org/officeDocument/2006/relationships" id="267" r:id="Rafd4214a842248c2"/>
    <p:sldId xmlns:r="http://schemas.openxmlformats.org/officeDocument/2006/relationships" id="268" r:id="R5cd2d51b4d88412f"/>
    <p:sldId xmlns:r="http://schemas.openxmlformats.org/officeDocument/2006/relationships" id="269" r:id="Rd7bc59b6a02a41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3c1d5f66ba43a3" /><Relationship Type="http://schemas.openxmlformats.org/officeDocument/2006/relationships/slideMaster" Target="/ppt/slideMasters/slideMaster1.xml" Id="Rdf92dfc8ed554723" /><Relationship Type="http://schemas.openxmlformats.org/officeDocument/2006/relationships/notesMaster" Target="/ppt/notesMasters/notesMaster1.xml" Id="Rdc7e625bfb4341ad" /><Relationship Type="http://schemas.openxmlformats.org/officeDocument/2006/relationships/presProps" Target="/ppt/presProps.xml" Id="R436a90e5f1e542b9" /><Relationship Type="http://schemas.openxmlformats.org/officeDocument/2006/relationships/tableStyles" Target="/ppt/tableStyles.xml" Id="Rd863d76255ab4aac" /><Relationship Type="http://schemas.openxmlformats.org/officeDocument/2006/relationships/slide" Target="/ppt/slides/slide1.xml" Id="Rc2be3b268df54fc2" /><Relationship Type="http://schemas.openxmlformats.org/officeDocument/2006/relationships/slide" Target="/ppt/slides/slide2.xml" Id="Re87f2aa828b74c70" /><Relationship Type="http://schemas.openxmlformats.org/officeDocument/2006/relationships/slide" Target="/ppt/slides/slide3.xml" Id="Rb5a2f9ed08d846aa" /><Relationship Type="http://schemas.openxmlformats.org/officeDocument/2006/relationships/slide" Target="/ppt/slides/slide4.xml" Id="Rbefbb04e8bd74065" /><Relationship Type="http://schemas.openxmlformats.org/officeDocument/2006/relationships/slide" Target="/ppt/slides/slide5.xml" Id="Re728d7ec42b74cbb" /><Relationship Type="http://schemas.openxmlformats.org/officeDocument/2006/relationships/slide" Target="/ppt/slides/slide6.xml" Id="R4a2bdeea37754728" /><Relationship Type="http://schemas.openxmlformats.org/officeDocument/2006/relationships/slide" Target="/ppt/slides/slide7.xml" Id="R712dac0910594d20" /><Relationship Type="http://schemas.openxmlformats.org/officeDocument/2006/relationships/slide" Target="/ppt/slides/slide8.xml" Id="R7718e33d51e94e93" /><Relationship Type="http://schemas.openxmlformats.org/officeDocument/2006/relationships/slide" Target="/ppt/slides/slide9.xml" Id="Ra27e7ad3bcee4a62" /><Relationship Type="http://schemas.openxmlformats.org/officeDocument/2006/relationships/slide" Target="/ppt/slides/slide10.xml" Id="Refbbdf1b3ba24bc0" /><Relationship Type="http://schemas.openxmlformats.org/officeDocument/2006/relationships/slide" Target="/ppt/slides/slide11.xml" Id="R697b10675f004921" /><Relationship Type="http://schemas.openxmlformats.org/officeDocument/2006/relationships/slide" Target="/ppt/slides/slide12.xml" Id="Rafd4214a842248c2" /><Relationship Type="http://schemas.openxmlformats.org/officeDocument/2006/relationships/slide" Target="/ppt/slides/slide13.xml" Id="R5cd2d51b4d88412f" /><Relationship Type="http://schemas.openxmlformats.org/officeDocument/2006/relationships/slide" Target="/ppt/slides/slide14.xml" Id="Rd7bc59b6a02a41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8d8bc634e149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668cff7b1d400d" /><Relationship Type="http://schemas.openxmlformats.org/officeDocument/2006/relationships/notesMaster" Target="/ppt/notesMasters/notesMaster1.xml" Id="Rb74a8e1d038143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60659b59a9450a" /><Relationship Type="http://schemas.openxmlformats.org/officeDocument/2006/relationships/notesMaster" Target="/ppt/notesMasters/notesMaster1.xml" Id="R892d10f8e1414f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be76e2844341d5" /><Relationship Type="http://schemas.openxmlformats.org/officeDocument/2006/relationships/notesMaster" Target="/ppt/notesMasters/notesMaster1.xml" Id="R67695afd5e4143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4758f382bd47e2" /><Relationship Type="http://schemas.openxmlformats.org/officeDocument/2006/relationships/notesMaster" Target="/ppt/notesMasters/notesMaster1.xml" Id="Rc90db107494e4d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a5ef8e48354774" /><Relationship Type="http://schemas.openxmlformats.org/officeDocument/2006/relationships/notesMaster" Target="/ppt/notesMasters/notesMaster1.xml" Id="R8980428b1bb94e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b57b39970a41d1" /><Relationship Type="http://schemas.openxmlformats.org/officeDocument/2006/relationships/notesMaster" Target="/ppt/notesMasters/notesMaster1.xml" Id="Rbbfb6ab13b2b45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1d0b84aa334fb4" /><Relationship Type="http://schemas.openxmlformats.org/officeDocument/2006/relationships/notesMaster" Target="/ppt/notesMasters/notesMaster1.xml" Id="R068d4c81d87442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0021d084154936" /><Relationship Type="http://schemas.openxmlformats.org/officeDocument/2006/relationships/notesMaster" Target="/ppt/notesMasters/notesMaster1.xml" Id="Ra7aa4ac9f7f44e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cdb87ff30d4019" /><Relationship Type="http://schemas.openxmlformats.org/officeDocument/2006/relationships/notesMaster" Target="/ppt/notesMasters/notesMaster1.xml" Id="Rf67c1ac5f29e47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c4653ee57042e1" /><Relationship Type="http://schemas.openxmlformats.org/officeDocument/2006/relationships/notesMaster" Target="/ppt/notesMasters/notesMaster1.xml" Id="R19760efac9e143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7cbe4b320c493c" /><Relationship Type="http://schemas.openxmlformats.org/officeDocument/2006/relationships/notesMaster" Target="/ppt/notesMasters/notesMaster1.xml" Id="Re0a79fbba24b4c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eb3906f7d140bc" /><Relationship Type="http://schemas.openxmlformats.org/officeDocument/2006/relationships/notesMaster" Target="/ppt/notesMasters/notesMaster1.xml" Id="R70cb7a6cb6144b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4ff1c7259140b9" /><Relationship Type="http://schemas.openxmlformats.org/officeDocument/2006/relationships/notesMaster" Target="/ppt/notesMasters/notesMaster1.xml" Id="Rb44c51d2d0f745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3be769373c4ebc" /><Relationship Type="http://schemas.openxmlformats.org/officeDocument/2006/relationships/notesMaster" Target="/ppt/notesMasters/notesMaster1.xml" Id="R0e439a63cb7447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project asks a specific operational question: which selected airports deserve closer wildlife-management attention next month? This is a recommendation about review priorities. The evidence comes from historical FAA reports. It does not tell us that a review prevents a strike, and it does not calculate danger to an individual passenger or flight. I will show the descriptive finding, explain the forecast, and then compare the final test with a simpler alternative. That comparison matters because a complicated model is only useful if it improves the decision.</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Airport wildlife teams already need to monitor hazards and maintain routine prevention. The decision in this project is how to add a limited review list to that work. One observation is one airport in one month. A positive outcome means the database includes at least one damaging strike for that airport and month. Multiple damaging strikes still count as one positive month. The monthly capacity is approximately one fifth of the selected airports, rounded up. I apply this capacity separately each month, because a team cannot know future scores when it makes its current list. This gives a consistent workload and makes the evaluation closer to the intended use.</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burden is damage reported by airports. That matters operationally, but this dataset does not establish how much spending a forecast could avoid. Repair and other cost fields do not solve that question: reported costs are incomplete and a ranking does not estimate the effect of an intervention. I therefore keep money out of the headline recommendation. The measured problem is that damaging reports occur and review capacity is limited. The model can help prioritize attention only if its list is more informative than a simple historical reference. This distinction keeps the stakeholder decision connected to what I actually measured.</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descriptive result explains why I focused on damage rather than simply counting every strike. Small wildlife appears in many more reports. Large wildlife appears less often, but a much greater fraction of those reports indicates damage. The count and the percentage answer different questions, so I show them separately. Neither result estimates risk per flight. Aircraft type, operating conditions, and reporting practices can affect the comparison. The finding supports extra attention to large-wildlife hazards without reducing attention to small wildlife. It also shows why an airport with many reports is not automatically the same as an airport with a high damage percentage.</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forecasting panel follows the earlier project scope. Airports had to report at least one strike in 119 of the 132 months from 2012 through 2022 and have at least 12 damaging months in that period. The placeholder identifier is excluded. Selection uses training history only. The model summarizes strikes and damaging reports in the prior one, three, and twelve months. It also includes season and airport identity. Every history feature is shifted backward. I tune using earlier yearly splits, preserve 2023 for validation, and then evaluate the frozen models on 2024. This avoids using future incident outcomes as model inputs.</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result uses a real monthly capacity rather than choosing the strongest records from the entire year. The selected logistic ranking captured 69 of 186 damaging months while reviewing 132 airport-months. That corresponds to precision of 52.3% and recall of 37.1%. Precision describes how often a reviewed airport-month had a damaging report. Recall describes how much of the reported damaging-month total the list captured. These are historical evaluation results. They do not count incidents prevented. The selected list contains both useful warnings and months that did not have reported damage.</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simple comparison is essential. An airport-history baseline ranks airports by their damaging-month frequency in the training period and uses the same monthly capacity. It captured 61 damaging months in the test. Logistic regression captured 69, and the forest captured 67. I apply the earlier switch rule: the forest needs at least five extra captures and no more than a 0.01 increase in probability error. The selected model is logistic. However, a close comparison does not establish a decisive model advantage. The 2024 outcome is one year at selected airports, and the historical baseline remains a serious alternative.</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important limitation of the review list is what it misses. The selected ranking missed 117 damaging airport-months. That means the list cannot replace broader prevention or justify ignoring lower-ranked airports. A damaging month outside the list still matters. I want the stakeholder to see the missed total next to the captured total because the same model can look much stronger if I only show successes. The review budget also involves a trade-off. Reviewing more airports may capture more damaging months, but it increases effort. The appropriate capacity needs an operational decision, rather than being treated as an optimal value discovered by this study.</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limits that affect use. First, zero means no damaging report in this extract, not proof that no damaging strike occurred. Second, without flight counts I cannot estimate individual-flight risk or compare airports on an exposure-adjusted basis. Third, a report can be entered after its incident date. Shifting by incident month prevents direct future-incident leakage, but it does not establish that all those reports were available when a forecast would have been issued. This is therefore a retrospective evaluation that assumes timely history. Before a live pilot, the team must check report availability and later revisions.</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monitored pilot with a clear reference. Each month, produce the chosen ranking and the historical baseline using only reports available at that time. Keep routine wildlife prevention in place. Record which airports receive review, how much effort review takes, what actionable hazards are found, and which damaging months the lists miss. Agree on what improvement would justify continuing before interpreting the pilot results. If the model cannot improve on the historical list at a manageable workload, the simpler reference should remain the choice. My conclusion is a bounded recommendation for prioritization, supported by a completed retrospective test and explicit limits.</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 eligible airports</a:t>
            </a:r>
          </a:p>
          <a:p xmlns:a="http://schemas.openxmlformats.org/drawingml/2006/main">
            <a:r>
              <a:t>At least 119 of 132 months with reports</a:t>
            </a:r>
          </a:p>
          <a:p xmlns:a="http://schemas.openxmlformats.org/drawingml/2006/main">
            <a:r>
              <a:t>At least 12 damaging months</a:t>
            </a:r>
          </a:p>
          <a:p xmlns:a="http://schemas.openxmlformats.org/drawingml/2006/main">
            <a:r>
              <a:t>2012–2022 selection. ZZZZ excluded</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reports used a pooled 20% selection across the year</a:t>
            </a:r>
          </a:p>
          <a:p xmlns:a="http://schemas.openxmlformats.org/drawingml/2006/main">
            <a:r>
              <a:t>Final analysis selects ceil(20% of airports) each month</a:t>
            </a:r>
          </a:p>
          <a:p xmlns:a="http://schemas.openxmlformats.org/drawingml/2006/main">
            <a:r>
              <a:t>The earlier executable code was not supplied</a:t>
            </a:r>
          </a:p>
          <a:p xmlns:a="http://schemas.openxmlformats.org/drawingml/2006/main">
            <a:r>
              <a:t>Final features and settings are documented for reproduction</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Brier: 0.191. AP: 0.456. AUC: 0.682</a:t>
            </a:r>
          </a:p>
          <a:p xmlns:a="http://schemas.openxmlformats.org/drawingml/2006/main">
            <a:r>
              <a:t>Forest Brier: 0.185. AP: 0.489. AUC: 0.704</a:t>
            </a:r>
          </a:p>
          <a:p xmlns:a="http://schemas.openxmlformats.org/drawingml/2006/main">
            <a:r>
              <a:t>History Brier: 0.194. AP: 0.441</a:t>
            </a:r>
          </a:p>
          <a:p xmlns:a="http://schemas.openxmlformats.org/drawingml/2006/main">
            <a:r>
              <a:t>Lower Brier means less mean squared probability error</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airport set? Training-only reporting eligibility</a:t>
            </a:r>
          </a:p>
          <a:p xmlns:a="http://schemas.openxmlformats.org/drawingml/2006/main">
            <a:r>
              <a:t>Does the ranking prevent damage? This study does not test that</a:t>
            </a:r>
          </a:p>
          <a:p xmlns:a="http://schemas.openxmlformats.org/drawingml/2006/main">
            <a:r>
              <a:t>Why use the model? Compare with airport history at equal capacity</a:t>
            </a:r>
          </a:p>
          <a:p xmlns:a="http://schemas.openxmlformats.org/drawingml/2006/main">
            <a:r>
              <a:t>When would you switch? Apply the predefined capture and Brier rule</a:t>
            </a:r>
          </a:p>
          <a:p xmlns:a="http://schemas.openxmlformats.org/drawingml/2006/main">
            <a:br/>
            <a:r>
              <a:t>Source: supplied FAA workbook Public(1).xlsx. Final analysis results in accompanying project package. All-file EDA and 2012–2024 modeling have different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e24cdf82df4a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7a0013554f4e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34fea12f544c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c7899a8e4249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641ed286b64b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166e181b154f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AFDCE6-1841-4944-BDB8-41C8AD84B9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FEA94D-0179-43A6-9B2A-7FD11B51F0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5FF8D6-2592-462A-A626-44D7848B1F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B2535D-0395-44D0-BC56-0A34007C44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EADB6F-D2CA-486B-9999-446DFC81438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38A164-3CB2-4C3C-9074-F6D491F840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7986D8-D5AB-4FC4-815C-27795E06A4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CEB33A-2CF5-4E36-A65D-90802B68DB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4AC787-7D55-4594-8AB7-318965223C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790F50-497C-461C-86BC-0ECEACFFF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e9a75d4b2f457a" /><Relationship Type="http://schemas.openxmlformats.org/officeDocument/2006/relationships/slideLayout" Target="/ppt/slideLayouts/slideLayout1.xml" Id="R960d3a5091d64e3c" /><Relationship Type="http://schemas.openxmlformats.org/officeDocument/2006/relationships/slideLayout" Target="/ppt/slideLayouts/slideLayout2.xml" Id="R54dfc119444c4e75" /><Relationship Type="http://schemas.openxmlformats.org/officeDocument/2006/relationships/slideLayout" Target="/ppt/slideLayouts/slideLayout3.xml" Id="R3256a31e3e664338" /><Relationship Type="http://schemas.openxmlformats.org/officeDocument/2006/relationships/slideLayout" Target="/ppt/slideLayouts/slideLayout4.xml" Id="R147478e10b0f4194" /><Relationship Type="http://schemas.openxmlformats.org/officeDocument/2006/relationships/slideLayout" Target="/ppt/slideLayouts/slideLayout5.xml" Id="Rea3fd6f2d9c14f0e" /><Relationship Type="http://schemas.openxmlformats.org/officeDocument/2006/relationships/slideLayout" Target="/ppt/slideLayouts/slideLayout6.xml" Id="Re2c3572123094d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0d3a5091d64e3c"/>
    <p:sldLayoutId xmlns:r="http://schemas.openxmlformats.org/officeDocument/2006/relationships" id="2147483650" r:id="R54dfc119444c4e75"/>
    <p:sldLayoutId xmlns:r="http://schemas.openxmlformats.org/officeDocument/2006/relationships" id="2147483651" r:id="R3256a31e3e664338"/>
    <p:sldLayoutId xmlns:r="http://schemas.openxmlformats.org/officeDocument/2006/relationships" id="2147483652" r:id="R147478e10b0f4194"/>
    <p:sldLayoutId xmlns:r="http://schemas.openxmlformats.org/officeDocument/2006/relationships" id="2147483653" r:id="Rea3fd6f2d9c14f0e"/>
    <p:sldLayoutId xmlns:r="http://schemas.openxmlformats.org/officeDocument/2006/relationships" id="2147483654" r:id="Re2c3572123094d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dfc8391a3341e0" /><Relationship Type="http://schemas.openxmlformats.org/officeDocument/2006/relationships/notesSlide" Target="/ppt/notesSlides/notesSlide1.xml" Id="R42f3d2789c364d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30bdb8105540df" /><Relationship Type="http://schemas.openxmlformats.org/officeDocument/2006/relationships/notesSlide" Target="/ppt/notesSlides/notesSlide2.xml" Id="R32a526ae29f047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b23baa3e3040a0" /><Relationship Type="http://schemas.openxmlformats.org/officeDocument/2006/relationships/notesSlide" Target="/ppt/notesSlides/notesSlide3.xml" Id="R8353ea4bebe24c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e5c81492f3f4667" /><Relationship Type="http://schemas.openxmlformats.org/officeDocument/2006/relationships/chart" Target="/ppt/slides/charts/chart1.xml" Id="Rc874920858454e0e" /><Relationship Type="http://schemas.openxmlformats.org/officeDocument/2006/relationships/chart" Target="/ppt/slides/charts/chart2.xml" Id="R59ce68bf33da4e18" /><Relationship Type="http://schemas.openxmlformats.org/officeDocument/2006/relationships/notesSlide" Target="/ppt/notesSlides/notesSlide4.xml" Id="R6e9056b0945a4b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1d0f21e91e47ff" /><Relationship Type="http://schemas.openxmlformats.org/officeDocument/2006/relationships/notesSlide" Target="/ppt/notesSlides/notesSlide5.xml" Id="R26cd59f5d72340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8c058908254518" /><Relationship Type="http://schemas.openxmlformats.org/officeDocument/2006/relationships/notesSlide" Target="/ppt/notesSlides/notesSlide6.xml" Id="R134fc872f0024c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fb9c520c984824" /><Relationship Type="http://schemas.openxmlformats.org/officeDocument/2006/relationships/chart" Target="/ppt/slides/charts/chart3.xml" Id="R4f7bb5adbda64f75" /><Relationship Type="http://schemas.openxmlformats.org/officeDocument/2006/relationships/notesSlide" Target="/ppt/notesSlides/notesSlide7.xml" Id="Rb1d21bb4980f44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92344dc235423a" /><Relationship Type="http://schemas.openxmlformats.org/officeDocument/2006/relationships/notesSlide" Target="/ppt/notesSlides/notesSlide8.xml" Id="R52e2433551de45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54cef3cd692414a" /><Relationship Type="http://schemas.openxmlformats.org/officeDocument/2006/relationships/notesSlide" Target="/ppt/notesSlides/notesSlide9.xml" Id="Rbf6471d38ebd45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5dd4716f3854ca0" /><Relationship Type="http://schemas.openxmlformats.org/officeDocument/2006/relationships/notesSlide" Target="/ppt/notesSlides/notesSlide10.xml" Id="Rae76f57a25b245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ffd11a323cb48fd" /><Relationship Type="http://schemas.openxmlformats.org/officeDocument/2006/relationships/notesSlide" Target="/ppt/notesSlides/notesSlide11.xml" Id="R383fbc32571840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432a277b5c4bab" /><Relationship Type="http://schemas.openxmlformats.org/officeDocument/2006/relationships/notesSlide" Target="/ppt/notesSlides/notesSlide12.xml" Id="R19ceb4726c8645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f3594550c084333" /><Relationship Type="http://schemas.openxmlformats.org/officeDocument/2006/relationships/notesSlide" Target="/ppt/notesSlides/notesSlide13.xml" Id="Ra3a1b033833246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5103b3661f4c9a" /><Relationship Type="http://schemas.openxmlformats.org/officeDocument/2006/relationships/notesSlide" Target="/ppt/notesSlides/notesSlide14.xml" Id="Re4dcf1fc025942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Reported strikes</c:v>
          </c:tx>
          <c:spPr>
            <a:solidFill xmlns:a="http://schemas.openxmlformats.org/drawingml/2006/main">
              <a:srgbClr val="315975"/>
            </a:solidFill>
          </c:spPr>
          <c:cat>
            <c:strRef>
              <c:f>'Chart Data'!$A$2:$A$4</c:f>
              <c:strCache>
                <c:ptCount val="3"/>
                <c:pt idx="0">
                  <c:v>Small</c:v>
                </c:pt>
                <c:pt idx="1">
                  <c:v>Medium</c:v>
                </c:pt>
                <c:pt idx="2">
                  <c:v>Large</c:v>
                </c:pt>
              </c:strCache>
            </c:strRef>
          </c:cat>
          <c:val>
            <c:numRef>
              <c:f>'Chart Data'!$B$2:$B$4</c:f>
              <c:numCache>
                <c:formatCode>General</c:formatCode>
                <c:ptCount val="3"/>
                <c:pt idx="0">
                  <c:v>217744</c:v>
                </c:pt>
                <c:pt idx="1">
                  <c:v>73957</c:v>
                </c:pt>
                <c:pt idx="2">
                  <c:v>21025</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250000"/>
          <c:min val="0"/>
        </c:scaling>
        <c:delete val="0"/>
        <c:axPos val="l"/>
        <c:majorGridlines>
          <c:spPr>
            <a:ln xmlns:a="http://schemas.openxmlformats.org/drawingml/2006/main" w="9525">
              <a:solidFill>
                <a:srgbClr val="D9DFE2"/>
              </a:solidFill>
            </a:ln>
          </c:spPr>
        </c:majorGridlines>
        <c:title>
          <c:tx>
            <c:rich>
              <a:bodyPr xmlns:a="http://schemas.openxmlformats.org/drawingml/2006/main"/>
              <a:lstStyle xmlns:a="http://schemas.openxmlformats.org/drawingml/2006/main"/>
              <a:p xmlns:a="http://schemas.openxmlformats.org/drawingml/2006/main">
                <a:r>
                  <a:rPr sz="1425">
                    <a:latin typeface="Arial"/>
                    <a:ea typeface="Arial"/>
                    <a:cs typeface="Arial"/>
                  </a:rPr>
                  <a:t>Reported strikes</a:t>
                </a:r>
              </a:p>
            </c:rich>
          </c:tx>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Reports indicating damage (%)</c:v>
          </c:tx>
          <c:spPr>
            <a:solidFill xmlns:a="http://schemas.openxmlformats.org/drawingml/2006/main">
              <a:srgbClr val="315975"/>
            </a:solidFill>
          </c:spPr>
          <c:cat>
            <c:strRef>
              <c:f>'Chart Data'!$A$2:$A$4</c:f>
              <c:strCache>
                <c:ptCount val="3"/>
                <c:pt idx="0">
                  <c:v>Small</c:v>
                </c:pt>
                <c:pt idx="1">
                  <c:v>Medium</c:v>
                </c:pt>
                <c:pt idx="2">
                  <c:v>Large</c:v>
                </c:pt>
              </c:strCache>
            </c:strRef>
          </c:cat>
          <c:val>
            <c:numRef>
              <c:f>'Chart Data'!$B$2:$B$4</c:f>
              <c:numCache>
                <c:formatCode>General</c:formatCode>
                <c:ptCount val="3"/>
                <c:pt idx="0">
                  <c:v>2</c:v>
                </c:pt>
                <c:pt idx="1">
                  <c:v>12.6</c:v>
                </c:pt>
                <c:pt idx="2">
                  <c:v>32.4</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9DFE2"/>
              </a:solidFill>
            </a:ln>
          </c:spPr>
        </c:majorGridlines>
        <c:title>
          <c:tx>
            <c:rich>
              <a:bodyPr xmlns:a="http://schemas.openxmlformats.org/drawingml/2006/main"/>
              <a:lstStyle xmlns:a="http://schemas.openxmlformats.org/drawingml/2006/main"/>
              <a:p xmlns:a="http://schemas.openxmlformats.org/drawingml/2006/main">
                <a:r>
                  <a:rPr sz="1425">
                    <a:latin typeface="Arial"/>
                    <a:ea typeface="Arial"/>
                    <a:cs typeface="Arial"/>
                  </a:rPr>
                  <a:t>Reports indicating damage (%)</a:t>
                </a:r>
              </a:p>
            </c:rich>
          </c:tx>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Damaging airport-months captured</c:v>
          </c:tx>
          <c:spPr>
            <a:solidFill xmlns:a="http://schemas.openxmlformats.org/drawingml/2006/main">
              <a:srgbClr val="315975"/>
            </a:solidFill>
          </c:spPr>
          <c:cat>
            <c:strRef>
              <c:f>'Chart Data'!$A$2:$A$4</c:f>
              <c:strCache>
                <c:ptCount val="3"/>
                <c:pt idx="0">
                  <c:v>Logistic</c:v>
                </c:pt>
                <c:pt idx="1">
                  <c:v>Forest</c:v>
                </c:pt>
                <c:pt idx="2">
                  <c:v>Airport history</c:v>
                </c:pt>
              </c:strCache>
            </c:strRef>
          </c:cat>
          <c:val>
            <c:numRef>
              <c:f>'Chart Data'!$B$2:$B$4</c:f>
              <c:numCache>
                <c:formatCode>General</c:formatCode>
                <c:ptCount val="3"/>
                <c:pt idx="0">
                  <c:v>69</c:v>
                </c:pt>
                <c:pt idx="1">
                  <c:v>67</c:v>
                </c:pt>
                <c:pt idx="2">
                  <c:v>61</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DFE2"/>
              </a:solidFill>
            </a:ln>
          </c:spPr>
        </c:majorGridlines>
        <c:title>
          <c:tx>
            <c:rich>
              <a:bodyPr xmlns:a="http://schemas.openxmlformats.org/drawingml/2006/main"/>
              <a:lstStyle xmlns:a="http://schemas.openxmlformats.org/drawingml/2006/main"/>
              <a:p xmlns:a="http://schemas.openxmlformats.org/drawingml/2006/main">
                <a:r>
                  <a:rPr sz="1425">
                    <a:latin typeface="Arial"/>
                    <a:ea typeface="Arial"/>
                    <a:cs typeface="Arial"/>
                  </a:rPr>
                  <a:t>Damaging airport-months captured</a:t>
                </a:r>
              </a:p>
            </c:rich>
          </c:tx>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8887E4D-16AE-4A30-BBB0-4F14504D2727}"/>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4D"/>
                </a:solidFill>
                <a:latin typeface="Arial"/>
                <a:ea typeface="Arial"/>
                <a:cs typeface="Arial"/>
              </a:defRPr>
            </a:defPPr>
          </a:lstStyle>
          <a:p xmlns:a="http://schemas.openxmlformats.org/drawingml/2006/main">
            <a:pPr>
              <a:defRPr sz="3000" b="1">
                <a:solidFill>
                  <a:srgbClr val="18384D"/>
                </a:solidFill>
                <a:latin typeface="Arial"/>
                <a:ea typeface="Arial"/>
                <a:cs typeface="Arial"/>
              </a:defRPr>
            </a:pPr>
            <a:r>
              <a:rPr sz="3000" b="1">
                <a:solidFill>
                  <a:srgbClr val="18384D"/>
                </a:solidFill>
                <a:latin typeface="Arial"/>
                <a:ea typeface="Arial"/>
                <a:cs typeface="Arial"/>
              </a:rPr>
              <a:t>Pilot logistic rankings for 11 monthly wildlife-management reviews across 53 selected airports while retaining routine prevention and checking report availability.</a:t>
            </a:r>
          </a:p>
        </p:txBody>
      </p:sp>
      <p:sp>
        <p:nvSpPr>
          <p:cNvPr id="2" name="">
            <a:extLst xmlns:a="http://schemas.openxmlformats.org/drawingml/2006/main">
              <a:ext uri="{FF2B5EF4-FFF2-40B4-BE49-F238E27FC236}">
                <a16:creationId xmlns:a16="http://schemas.microsoft.com/office/drawing/2014/main" id="{403AD938-C0E1-445A-B932-350BF99949E7}"/>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84D"/>
                </a:solidFill>
                <a:latin typeface="Arial"/>
                <a:ea typeface="Arial"/>
                <a:cs typeface="Arial"/>
              </a:defRPr>
            </a:defPPr>
          </a:lstStyle>
          <a:p xmlns:a="http://schemas.openxmlformats.org/drawingml/2006/main">
            <a:pPr>
              <a:defRPr sz="2325" b="0">
                <a:solidFill>
                  <a:srgbClr val="18384D"/>
                </a:solidFill>
                <a:latin typeface="Arial"/>
                <a:ea typeface="Arial"/>
                <a:cs typeface="Arial"/>
              </a:defRPr>
            </a:pPr>
            <a:r>
              <a:rPr sz="2325" b="0">
                <a:solidFill>
                  <a:srgbClr val="18384D"/>
                </a:solidFill>
                <a:latin typeface="Arial"/>
                <a:ea typeface="Arial"/>
                <a:cs typeface="Arial"/>
              </a:rPr>
              <a:t>Rabin Acharya</a:t>
            </a:r>
          </a:p>
          <a:p xmlns:a="http://schemas.openxmlformats.org/drawingml/2006/main">
            <a:pPr>
              <a:defRPr sz="2325" b="0">
                <a:solidFill>
                  <a:srgbClr val="18384D"/>
                </a:solidFill>
                <a:latin typeface="Arial"/>
                <a:ea typeface="Arial"/>
                <a:cs typeface="Arial"/>
              </a:defRPr>
            </a:pPr>
            <a:r>
              <a:rPr sz="2325" b="0">
                <a:solidFill>
                  <a:srgbClr val="18384D"/>
                </a:solidFill>
                <a:latin typeface="Arial"/>
                <a:ea typeface="Arial"/>
                <a:cs typeface="Arial"/>
              </a:rPr>
              <a:t>MSDS 692 Week 7</a:t>
            </a:r>
          </a:p>
          <a:p xmlns:a="http://schemas.openxmlformats.org/drawingml/2006/main">
            <a:pPr>
              <a:defRPr sz="2325" b="0">
                <a:solidFill>
                  <a:srgbClr val="18384D"/>
                </a:solidFill>
                <a:latin typeface="Arial"/>
                <a:ea typeface="Arial"/>
                <a:cs typeface="Arial"/>
              </a:defRPr>
            </a:pPr>
            <a:r>
              <a:rPr sz="2325" b="0">
                <a:solidFill>
                  <a:srgbClr val="18384D"/>
                </a:solidFill>
                <a:latin typeface="Arial"/>
                <a:ea typeface="Arial"/>
                <a:cs typeface="Arial"/>
              </a:rPr>
              <a:t>Monthly reported damaging-strike forecasting</a:t>
            </a:r>
          </a:p>
        </p:txBody>
      </p:sp>
      <p:sp>
        <p:nvSpPr>
          <p:cNvPr id="3" name="">
            <a:extLst xmlns:a="http://schemas.openxmlformats.org/drawingml/2006/main">
              <a:ext uri="{FF2B5EF4-FFF2-40B4-BE49-F238E27FC236}">
                <a16:creationId xmlns:a16="http://schemas.microsoft.com/office/drawing/2014/main" id="{995A8D90-342A-402A-8E74-BA73DD568203}"/>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1</a:t>
            </a:r>
          </a:p>
        </p:txBody>
      </p:sp>
    </p:spTree>
    <p:extLst>
      <p:ext uri="{BB962C8B-B14F-4D97-AF65-F5344CB8AC3E}">
        <p14:creationId xmlns:p14="http://schemas.microsoft.com/office/powerpoint/2010/main" val="8057011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2859B78-DBEE-4986-A81D-D61DE57D52B6}"/>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Airport teams need a monthly priority list that preserves routine prevention</a:t>
            </a:r>
          </a:p>
        </p:txBody>
      </p:sp>
      <p:sp>
        <p:nvSpPr>
          <p:cNvPr id="2" name="">
            <a:extLst xmlns:a="http://schemas.openxmlformats.org/drawingml/2006/main">
              <a:ext uri="{FF2B5EF4-FFF2-40B4-BE49-F238E27FC236}">
                <a16:creationId xmlns:a16="http://schemas.microsoft.com/office/drawing/2014/main" id="{3C37FD4F-8655-47EA-99EE-EC773F49A619}"/>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53 airports selected using 2012–2022 reports</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11 reviews per month, about 20% of the eligible airports</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The outcome is at least one reported damaging strike in a month</a:t>
            </a:r>
          </a:p>
        </p:txBody>
      </p:sp>
      <p:sp>
        <p:nvSpPr>
          <p:cNvPr id="3" name="">
            <a:extLst xmlns:a="http://schemas.openxmlformats.org/drawingml/2006/main">
              <a:ext uri="{FF2B5EF4-FFF2-40B4-BE49-F238E27FC236}">
                <a16:creationId xmlns:a16="http://schemas.microsoft.com/office/drawing/2014/main" id="{CC0DACAD-892C-4082-BBAE-1D77B29AA199}"/>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2</a:t>
            </a:r>
          </a:p>
        </p:txBody>
      </p:sp>
    </p:spTree>
    <p:extLst>
      <p:ext uri="{BB962C8B-B14F-4D97-AF65-F5344CB8AC3E}">
        <p14:creationId xmlns:p14="http://schemas.microsoft.com/office/powerpoint/2010/main" val="6521436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2F89C76-6377-468B-9DF6-83AE1A793E8B}"/>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Damaging reports identify a management burden but do not establish preventable costs</a:t>
            </a:r>
          </a:p>
        </p:txBody>
      </p:sp>
      <p:sp>
        <p:nvSpPr>
          <p:cNvPr id="2" name="">
            <a:extLst xmlns:a="http://schemas.openxmlformats.org/drawingml/2006/main">
              <a:ext uri="{FF2B5EF4-FFF2-40B4-BE49-F238E27FC236}">
                <a16:creationId xmlns:a16="http://schemas.microsoft.com/office/drawing/2014/main" id="{EFE8FDDC-5DAF-45B1-95F5-1BFD9C0988FF}"/>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The test contains 186 damaging airport-months</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A damaging month may contain more than one strike</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No defensible dollar-saving estimate follows from this ranking</a:t>
            </a:r>
          </a:p>
        </p:txBody>
      </p:sp>
      <p:sp>
        <p:nvSpPr>
          <p:cNvPr id="3" name="">
            <a:extLst xmlns:a="http://schemas.openxmlformats.org/drawingml/2006/main">
              <a:ext uri="{FF2B5EF4-FFF2-40B4-BE49-F238E27FC236}">
                <a16:creationId xmlns:a16="http://schemas.microsoft.com/office/drawing/2014/main" id="{C62C6E02-D270-4069-9EE1-F3EC7E05F0CA}"/>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3</a:t>
            </a:r>
          </a:p>
        </p:txBody>
      </p:sp>
    </p:spTree>
    <p:extLst>
      <p:ext uri="{BB962C8B-B14F-4D97-AF65-F5344CB8AC3E}">
        <p14:creationId xmlns:p14="http://schemas.microsoft.com/office/powerpoint/2010/main" val="860539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CE1446-441E-4E2A-B5AA-DBA32140946F}"/>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Small wildlife dominates report counts while large wildlife has a higher damage percentage</a:t>
            </a:r>
          </a:p>
        </p:txBody>
      </p:sp>
      <p:graphicFrame>
        <p:nvGraphicFramePr>
          <p:cNvPr id="2" name="Chart">
            <a:extLst xmlns:a="http://schemas.openxmlformats.org/drawingml/2006/main">
              <a:ext uri="{FF2B5EF4-FFF2-40B4-BE49-F238E27FC236}">
                <a16:creationId xmlns:a16="http://schemas.microsoft.com/office/drawing/2014/main" id="{771EE0B8-C859-422E-B83D-4E453B361522}"/>
              </a:ext>
            </a:extLst>
          </p:cNvPr>
          <p:cNvGraphicFramePr/>
          <p:nvPr/>
        </p:nvGraphicFramePr>
        <p:xfrm>
          <a:off xmlns:a="http://schemas.openxmlformats.org/drawingml/2006/main" x="571500" y="2190750"/>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c874920858454e0e"/>
          </a:graphicData>
        </a:graphic>
      </p:graphicFrame>
      <p:graphicFrame>
        <p:nvGraphicFramePr>
          <p:cNvPr id="3" name="Chart">
            <a:extLst xmlns:a="http://schemas.openxmlformats.org/drawingml/2006/main">
              <a:ext uri="{FF2B5EF4-FFF2-40B4-BE49-F238E27FC236}">
                <a16:creationId xmlns:a16="http://schemas.microsoft.com/office/drawing/2014/main" id="{AA2016FF-FDEC-4D43-A847-0FC42000B491}"/>
              </a:ext>
            </a:extLst>
          </p:cNvPr>
          <p:cNvGraphicFramePr/>
          <p:nvPr/>
        </p:nvGraphicFramePr>
        <p:xfrm>
          <a:off xmlns:a="http://schemas.openxmlformats.org/drawingml/2006/main" x="6238875" y="2190750"/>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59ce68bf33da4e18"/>
          </a:graphicData>
        </a:graphic>
      </p:graphicFrame>
      <p:sp>
        <p:nvSpPr>
          <p:cNvPr id="4" name="">
            <a:extLst xmlns:a="http://schemas.openxmlformats.org/drawingml/2006/main">
              <a:ext uri="{FF2B5EF4-FFF2-40B4-BE49-F238E27FC236}">
                <a16:creationId xmlns:a16="http://schemas.microsoft.com/office/drawing/2014/main" id="{CAA27C99-E039-4B03-BF61-964A724A111E}"/>
              </a:ext>
            </a:extLst>
          </p:cNvPr>
          <p:cNvSpPr>
            <a:spLocks xmlns:a="http://schemas.openxmlformats.org/drawingml/2006/main" noGrp="1"/>
          </p:cNvSpPr>
          <p:nvPr/>
        </p:nvSpPr>
        <p:spPr>
          <a:xfrm xmlns:a="http://schemas.openxmlformats.org/drawingml/2006/main">
            <a:off x="666750" y="57150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84D"/>
                </a:solidFill>
                <a:latin typeface="Arial"/>
                <a:ea typeface="Arial"/>
                <a:cs typeface="Arial"/>
              </a:defRPr>
            </a:defPPr>
          </a:lstStyle>
          <a:p xmlns:a="http://schemas.openxmlformats.org/drawingml/2006/main">
            <a:pPr>
              <a:defRPr sz="1725" b="0">
                <a:solidFill>
                  <a:srgbClr val="18384D"/>
                </a:solidFill>
                <a:latin typeface="Arial"/>
                <a:ea typeface="Arial"/>
                <a:cs typeface="Arial"/>
              </a:defRPr>
            </a:pPr>
            <a:r>
              <a:rPr sz="1725" b="0">
                <a:solidFill>
                  <a:srgbClr val="18384D"/>
                </a:solidFill>
                <a:latin typeface="Arial"/>
                <a:ea typeface="Arial"/>
                <a:cs typeface="Arial"/>
              </a:rPr>
              <a:t>All-file descriptive comparison. Neither panel estimates risk per flight.</a:t>
            </a:r>
          </a:p>
        </p:txBody>
      </p:sp>
      <p:sp>
        <p:nvSpPr>
          <p:cNvPr id="5" name="">
            <a:extLst xmlns:a="http://schemas.openxmlformats.org/drawingml/2006/main">
              <a:ext uri="{FF2B5EF4-FFF2-40B4-BE49-F238E27FC236}">
                <a16:creationId xmlns:a16="http://schemas.microsoft.com/office/drawing/2014/main" id="{0B6CD219-58CE-4164-9197-435425D83217}"/>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4</a:t>
            </a:r>
          </a:p>
        </p:txBody>
      </p:sp>
    </p:spTree>
    <p:extLst>
      <p:ext uri="{BB962C8B-B14F-4D97-AF65-F5344CB8AC3E}">
        <p14:creationId xmlns:p14="http://schemas.microsoft.com/office/powerpoint/2010/main" val="6736545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BBE5255-9E71-467D-9D00-7541185D116A}"/>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The forecast uses past incident history for 53 consistently reporting airports</a:t>
            </a:r>
          </a:p>
        </p:txBody>
      </p:sp>
      <p:sp>
        <p:nvSpPr>
          <p:cNvPr id="2" name="">
            <a:extLst xmlns:a="http://schemas.openxmlformats.org/drawingml/2006/main">
              <a:ext uri="{FF2B5EF4-FFF2-40B4-BE49-F238E27FC236}">
                <a16:creationId xmlns:a16="http://schemas.microsoft.com/office/drawing/2014/main" id="{325D243A-6362-425F-B49A-D703C00788F4}"/>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Training: 2013–2022 after a 12-month history window</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Rolling tuning: 2020, 2021, 2022</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Validation: 2023. Reserved test: 2024</a:t>
            </a:r>
          </a:p>
        </p:txBody>
      </p:sp>
      <p:sp>
        <p:nvSpPr>
          <p:cNvPr id="3" name="">
            <a:extLst xmlns:a="http://schemas.openxmlformats.org/drawingml/2006/main">
              <a:ext uri="{FF2B5EF4-FFF2-40B4-BE49-F238E27FC236}">
                <a16:creationId xmlns:a16="http://schemas.microsoft.com/office/drawing/2014/main" id="{7E3B4691-EAD3-4C3A-889F-15EDD4AF7991}"/>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5</a:t>
            </a:r>
          </a:p>
        </p:txBody>
      </p:sp>
    </p:spTree>
    <p:extLst>
      <p:ext uri="{BB962C8B-B14F-4D97-AF65-F5344CB8AC3E}">
        <p14:creationId xmlns:p14="http://schemas.microsoft.com/office/powerpoint/2010/main" val="17448111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BF88A0-FF41-452B-8B85-76DCFF29E93E}"/>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The 2024 test captured 69 of 186 damaging months in 132 reviews</a:t>
            </a:r>
          </a:p>
        </p:txBody>
      </p:sp>
      <p:sp>
        <p:nvSpPr>
          <p:cNvPr id="2" name="">
            <a:extLst xmlns:a="http://schemas.openxmlformats.org/drawingml/2006/main">
              <a:ext uri="{FF2B5EF4-FFF2-40B4-BE49-F238E27FC236}">
                <a16:creationId xmlns:a16="http://schemas.microsoft.com/office/drawing/2014/main" id="{B87DAA7E-C1A0-4843-9C45-A74D5B28EB62}"/>
              </a:ext>
            </a:extLst>
          </p:cNvPr>
          <p:cNvSpPr>
            <a:spLocks xmlns:a="http://schemas.openxmlformats.org/drawingml/2006/main" noGrp="1"/>
          </p:cNvSpPr>
          <p:nvPr/>
        </p:nvSpPr>
        <p:spPr>
          <a:xfrm xmlns:a="http://schemas.openxmlformats.org/drawingml/2006/main">
            <a:off x="714375" y="21431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18384D"/>
                </a:solidFill>
                <a:latin typeface="Arial"/>
                <a:ea typeface="Arial"/>
                <a:cs typeface="Arial"/>
              </a:defRPr>
            </a:defPPr>
          </a:lstStyle>
          <a:p xmlns:a="http://schemas.openxmlformats.org/drawingml/2006/main">
            <a:pPr>
              <a:defRPr sz="6300" b="1">
                <a:solidFill>
                  <a:srgbClr val="18384D"/>
                </a:solidFill>
                <a:latin typeface="Arial"/>
                <a:ea typeface="Arial"/>
                <a:cs typeface="Arial"/>
              </a:defRPr>
            </a:pPr>
            <a:r>
              <a:rPr sz="6300" b="1">
                <a:solidFill>
                  <a:srgbClr val="18384D"/>
                </a:solidFill>
                <a:latin typeface="Arial"/>
                <a:ea typeface="Arial"/>
                <a:cs typeface="Arial"/>
              </a:rPr>
              <a:t>69 of 186</a:t>
            </a:r>
          </a:p>
        </p:txBody>
      </p:sp>
      <p:sp>
        <p:nvSpPr>
          <p:cNvPr id="3" name="">
            <a:extLst xmlns:a="http://schemas.openxmlformats.org/drawingml/2006/main">
              <a:ext uri="{FF2B5EF4-FFF2-40B4-BE49-F238E27FC236}">
                <a16:creationId xmlns:a16="http://schemas.microsoft.com/office/drawing/2014/main" id="{A7C1B1F4-9A41-46EC-800B-ECBE710F9A99}"/>
              </a:ext>
            </a:extLst>
          </p:cNvPr>
          <p:cNvSpPr>
            <a:spLocks xmlns:a="http://schemas.openxmlformats.org/drawingml/2006/main" noGrp="1"/>
          </p:cNvSpPr>
          <p:nvPr/>
        </p:nvSpPr>
        <p:spPr>
          <a:xfrm xmlns:a="http://schemas.openxmlformats.org/drawingml/2006/main">
            <a:off x="762000" y="3238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84D"/>
                </a:solidFill>
                <a:latin typeface="Arial"/>
                <a:ea typeface="Arial"/>
                <a:cs typeface="Arial"/>
              </a:defRPr>
            </a:defPPr>
          </a:lstStyle>
          <a:p xmlns:a="http://schemas.openxmlformats.org/drawingml/2006/main">
            <a:pPr>
              <a:defRPr sz="2325" b="0">
                <a:solidFill>
                  <a:srgbClr val="18384D"/>
                </a:solidFill>
                <a:latin typeface="Arial"/>
                <a:ea typeface="Arial"/>
                <a:cs typeface="Arial"/>
              </a:defRPr>
            </a:pPr>
            <a:r>
              <a:rPr sz="2325" b="0">
                <a:solidFill>
                  <a:srgbClr val="18384D"/>
                </a:solidFill>
                <a:latin typeface="Arial"/>
                <a:ea typeface="Arial"/>
                <a:cs typeface="Arial"/>
              </a:rPr>
              <a:t>damaging months captured in 132 airport-month reviews</a:t>
            </a:r>
          </a:p>
        </p:txBody>
      </p:sp>
      <p:sp>
        <p:nvSpPr>
          <p:cNvPr id="4" name="">
            <a:extLst xmlns:a="http://schemas.openxmlformats.org/drawingml/2006/main">
              <a:ext uri="{FF2B5EF4-FFF2-40B4-BE49-F238E27FC236}">
                <a16:creationId xmlns:a16="http://schemas.microsoft.com/office/drawing/2014/main" id="{C2600D4B-F68C-4E0A-A241-50500822CA73}"/>
              </a:ext>
            </a:extLst>
          </p:cNvPr>
          <p:cNvSpPr>
            <a:spLocks xmlns:a="http://schemas.openxmlformats.org/drawingml/2006/main" noGrp="1"/>
          </p:cNvSpPr>
          <p:nvPr/>
        </p:nvSpPr>
        <p:spPr>
          <a:xfrm xmlns:a="http://schemas.openxmlformats.org/drawingml/2006/main">
            <a:off x="762000" y="42862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D"/>
                </a:solidFill>
                <a:latin typeface="Arial"/>
                <a:ea typeface="Arial"/>
                <a:cs typeface="Arial"/>
              </a:defRPr>
            </a:defPPr>
          </a:lstStyle>
          <a:p xmlns:a="http://schemas.openxmlformats.org/drawingml/2006/main">
            <a:pPr>
              <a:defRPr sz="2175" b="0">
                <a:solidFill>
                  <a:srgbClr val="18384D"/>
                </a:solidFill>
                <a:latin typeface="Arial"/>
                <a:ea typeface="Arial"/>
                <a:cs typeface="Arial"/>
              </a:defRPr>
            </a:pPr>
            <a:r>
              <a:rPr sz="2175" b="0">
                <a:solidFill>
                  <a:srgbClr val="18384D"/>
                </a:solidFill>
                <a:latin typeface="Arial"/>
                <a:ea typeface="Arial"/>
                <a:cs typeface="Arial"/>
              </a:rPr>
              <a:t>Precision: 52.3%</a:t>
            </a:r>
          </a:p>
          <a:p xmlns:a="http://schemas.openxmlformats.org/drawingml/2006/main">
            <a:pPr>
              <a:defRPr sz="2175" b="0">
                <a:solidFill>
                  <a:srgbClr val="18384D"/>
                </a:solidFill>
                <a:latin typeface="Arial"/>
                <a:ea typeface="Arial"/>
                <a:cs typeface="Arial"/>
              </a:defRPr>
            </a:pPr>
            <a:r>
              <a:rPr sz="2175" b="0">
                <a:solidFill>
                  <a:srgbClr val="18384D"/>
                </a:solidFill>
                <a:latin typeface="Arial"/>
                <a:ea typeface="Arial"/>
                <a:cs typeface="Arial"/>
              </a:rPr>
              <a:t>Recall: 37.1%</a:t>
            </a:r>
          </a:p>
          <a:p xmlns:a="http://schemas.openxmlformats.org/drawingml/2006/main">
            <a:pPr>
              <a:defRPr sz="2175" b="0">
                <a:solidFill>
                  <a:srgbClr val="18384D"/>
                </a:solidFill>
                <a:latin typeface="Arial"/>
                <a:ea typeface="Arial"/>
                <a:cs typeface="Arial"/>
              </a:defRPr>
            </a:pPr>
            <a:r>
              <a:rPr sz="2175" b="0">
                <a:solidFill>
                  <a:srgbClr val="18384D"/>
                </a:solidFill>
                <a:latin typeface="Arial"/>
                <a:ea typeface="Arial"/>
                <a:cs typeface="Arial"/>
              </a:rPr>
              <a:t>Each month selects 11 airports before its outcomes occur</a:t>
            </a:r>
          </a:p>
        </p:txBody>
      </p:sp>
      <p:sp>
        <p:nvSpPr>
          <p:cNvPr id="5" name="">
            <a:extLst xmlns:a="http://schemas.openxmlformats.org/drawingml/2006/main">
              <a:ext uri="{FF2B5EF4-FFF2-40B4-BE49-F238E27FC236}">
                <a16:creationId xmlns:a16="http://schemas.microsoft.com/office/drawing/2014/main" id="{298B6338-30F8-4274-A626-10247A192F40}"/>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6</a:t>
            </a:r>
          </a:p>
        </p:txBody>
      </p:sp>
    </p:spTree>
    <p:extLst>
      <p:ext uri="{BB962C8B-B14F-4D97-AF65-F5344CB8AC3E}">
        <p14:creationId xmlns:p14="http://schemas.microsoft.com/office/powerpoint/2010/main" val="3519858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BE4153-EE48-4FA2-A330-008AE8AFF718}"/>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The historical airport baseline captured 61 damaging months at the same workload</a:t>
            </a:r>
          </a:p>
        </p:txBody>
      </p:sp>
      <p:graphicFrame>
        <p:nvGraphicFramePr>
          <p:cNvPr id="2" name="Chart">
            <a:extLst xmlns:a="http://schemas.openxmlformats.org/drawingml/2006/main">
              <a:ext uri="{FF2B5EF4-FFF2-40B4-BE49-F238E27FC236}">
                <a16:creationId xmlns:a16="http://schemas.microsoft.com/office/drawing/2014/main" id="{05D33C53-AB6B-4701-A779-6224CAAFB383}"/>
              </a:ext>
            </a:extLst>
          </p:cNvPr>
          <p:cNvGraphicFramePr/>
          <p:nvPr/>
        </p:nvGraphicFramePr>
        <p:xfrm>
          <a:off xmlns:a="http://schemas.openxmlformats.org/drawingml/2006/main" x="904875" y="2047875"/>
          <a:ext xmlns:a="http://schemas.openxmlformats.org/drawingml/2006/main" cx="10287000" cy="3381375"/>
        </p:xfrm>
        <a:graphic xmlns:a="http://schemas.openxmlformats.org/drawingml/2006/main">
          <a:graphicData uri="http://schemas.openxmlformats.org/drawingml/2006/chart">
            <c:chart xmlns:r="http://schemas.openxmlformats.org/officeDocument/2006/relationships" xmlns:c="http://schemas.openxmlformats.org/drawingml/2006/chart" r:id="R4f7bb5adbda64f75"/>
          </a:graphicData>
        </a:graphic>
      </p:graphicFrame>
      <p:sp>
        <p:nvSpPr>
          <p:cNvPr id="3" name="">
            <a:extLst xmlns:a="http://schemas.openxmlformats.org/drawingml/2006/main">
              <a:ext uri="{FF2B5EF4-FFF2-40B4-BE49-F238E27FC236}">
                <a16:creationId xmlns:a16="http://schemas.microsoft.com/office/drawing/2014/main" id="{B7F93D40-634F-436D-975D-271CD1754D8E}"/>
              </a:ext>
            </a:extLst>
          </p:cNvPr>
          <p:cNvSpPr>
            <a:spLocks xmlns:a="http://schemas.openxmlformats.org/drawingml/2006/main" noGrp="1"/>
          </p:cNvSpPr>
          <p:nvPr/>
        </p:nvSpPr>
        <p:spPr>
          <a:xfrm xmlns:a="http://schemas.openxmlformats.org/drawingml/2006/main">
            <a:off x="762000" y="57150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84D"/>
                </a:solidFill>
                <a:latin typeface="Arial"/>
                <a:ea typeface="Arial"/>
                <a:cs typeface="Arial"/>
              </a:defRPr>
            </a:defPPr>
          </a:lstStyle>
          <a:p xmlns:a="http://schemas.openxmlformats.org/drawingml/2006/main">
            <a:pPr>
              <a:defRPr sz="1875" b="0">
                <a:solidFill>
                  <a:srgbClr val="18384D"/>
                </a:solidFill>
                <a:latin typeface="Arial"/>
                <a:ea typeface="Arial"/>
                <a:cs typeface="Arial"/>
              </a:defRPr>
            </a:pPr>
            <a:r>
              <a:rPr sz="1875" b="0">
                <a:solidFill>
                  <a:srgbClr val="18384D"/>
                </a:solidFill>
                <a:latin typeface="Arial"/>
                <a:ea typeface="Arial"/>
                <a:cs typeface="Arial"/>
              </a:rPr>
              <a:t>2024 test. All lists use 11 reviews per month, 132 per year.</a:t>
            </a:r>
          </a:p>
        </p:txBody>
      </p:sp>
      <p:sp>
        <p:nvSpPr>
          <p:cNvPr id="4" name="">
            <a:extLst xmlns:a="http://schemas.openxmlformats.org/drawingml/2006/main">
              <a:ext uri="{FF2B5EF4-FFF2-40B4-BE49-F238E27FC236}">
                <a16:creationId xmlns:a16="http://schemas.microsoft.com/office/drawing/2014/main" id="{E89E3AA9-5210-4F82-8483-5607D70D1C7B}"/>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7</a:t>
            </a:r>
          </a:p>
        </p:txBody>
      </p:sp>
    </p:spTree>
    <p:extLst>
      <p:ext uri="{BB962C8B-B14F-4D97-AF65-F5344CB8AC3E}">
        <p14:creationId xmlns:p14="http://schemas.microsoft.com/office/powerpoint/2010/main" val="15271355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6A7706-711E-4FB5-B357-50E1C1D80833}"/>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The review list still missed 117 damaging months</a:t>
            </a:r>
          </a:p>
        </p:txBody>
      </p:sp>
      <p:sp>
        <p:nvSpPr>
          <p:cNvPr id="2" name="">
            <a:extLst xmlns:a="http://schemas.openxmlformats.org/drawingml/2006/main">
              <a:ext uri="{FF2B5EF4-FFF2-40B4-BE49-F238E27FC236}">
                <a16:creationId xmlns:a16="http://schemas.microsoft.com/office/drawing/2014/main" id="{1D23EF11-FF7C-4E5E-8702-C67EE6A21E52}"/>
              </a:ext>
            </a:extLst>
          </p:cNvPr>
          <p:cNvSpPr>
            <a:spLocks xmlns:a="http://schemas.openxmlformats.org/drawingml/2006/main" noGrp="1"/>
          </p:cNvSpPr>
          <p:nvPr/>
        </p:nvSpPr>
        <p:spPr>
          <a:xfrm xmlns:a="http://schemas.openxmlformats.org/drawingml/2006/main">
            <a:off x="714375" y="21907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18384D"/>
                </a:solidFill>
                <a:latin typeface="Arial"/>
                <a:ea typeface="Arial"/>
                <a:cs typeface="Arial"/>
              </a:defRPr>
            </a:defPPr>
          </a:lstStyle>
          <a:p xmlns:a="http://schemas.openxmlformats.org/drawingml/2006/main">
            <a:pPr>
              <a:defRPr sz="6000" b="1">
                <a:solidFill>
                  <a:srgbClr val="18384D"/>
                </a:solidFill>
                <a:latin typeface="Arial"/>
                <a:ea typeface="Arial"/>
                <a:cs typeface="Arial"/>
              </a:defRPr>
            </a:pPr>
            <a:r>
              <a:rPr sz="6000" b="1">
                <a:solidFill>
                  <a:srgbClr val="18384D"/>
                </a:solidFill>
                <a:latin typeface="Arial"/>
                <a:ea typeface="Arial"/>
                <a:cs typeface="Arial"/>
              </a:rPr>
              <a:t>117 missed</a:t>
            </a:r>
          </a:p>
        </p:txBody>
      </p:sp>
      <p:sp>
        <p:nvSpPr>
          <p:cNvPr id="3" name="">
            <a:extLst xmlns:a="http://schemas.openxmlformats.org/drawingml/2006/main">
              <a:ext uri="{FF2B5EF4-FFF2-40B4-BE49-F238E27FC236}">
                <a16:creationId xmlns:a16="http://schemas.microsoft.com/office/drawing/2014/main" id="{89909E74-B6D8-4E5C-B266-AE6543D03916}"/>
              </a:ext>
            </a:extLst>
          </p:cNvPr>
          <p:cNvSpPr>
            <a:spLocks xmlns:a="http://schemas.openxmlformats.org/drawingml/2006/main" noGrp="1"/>
          </p:cNvSpPr>
          <p:nvPr/>
        </p:nvSpPr>
        <p:spPr>
          <a:xfrm xmlns:a="http://schemas.openxmlformats.org/drawingml/2006/main">
            <a:off x="762000" y="3667125"/>
            <a:ext cx="10382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84D"/>
                </a:solidFill>
                <a:latin typeface="Arial"/>
                <a:ea typeface="Arial"/>
                <a:cs typeface="Arial"/>
              </a:defRPr>
            </a:defPPr>
          </a:lstStyle>
          <a:p xmlns:a="http://schemas.openxmlformats.org/drawingml/2006/main">
            <a:pPr>
              <a:defRPr sz="2325" b="0">
                <a:solidFill>
                  <a:srgbClr val="18384D"/>
                </a:solidFill>
                <a:latin typeface="Arial"/>
                <a:ea typeface="Arial"/>
                <a:cs typeface="Arial"/>
              </a:defRPr>
            </a:pPr>
            <a:r>
              <a:rPr sz="2325" b="0">
                <a:solidFill>
                  <a:srgbClr val="18384D"/>
                </a:solidFill>
                <a:latin typeface="Arial"/>
                <a:ea typeface="Arial"/>
                <a:cs typeface="Arial"/>
              </a:rPr>
              <a:t>69 captured and 117 missed</a:t>
            </a:r>
          </a:p>
          <a:p xmlns:a="http://schemas.openxmlformats.org/drawingml/2006/main">
            <a:pPr>
              <a:defRPr sz="2325" b="0">
                <a:solidFill>
                  <a:srgbClr val="18384D"/>
                </a:solidFill>
                <a:latin typeface="Arial"/>
                <a:ea typeface="Arial"/>
                <a:cs typeface="Arial"/>
              </a:defRPr>
            </a:pPr>
            <a:r>
              <a:rPr sz="2325" b="0">
                <a:solidFill>
                  <a:srgbClr val="18384D"/>
                </a:solidFill>
                <a:latin typeface="Arial"/>
                <a:ea typeface="Arial"/>
                <a:cs typeface="Arial"/>
              </a:rPr>
              <a:t>A low ranking cannot justify stopping routine surveillance</a:t>
            </a:r>
          </a:p>
          <a:p xmlns:a="http://schemas.openxmlformats.org/drawingml/2006/main">
            <a:pPr>
              <a:defRPr sz="2325" b="0">
                <a:solidFill>
                  <a:srgbClr val="18384D"/>
                </a:solidFill>
                <a:latin typeface="Arial"/>
                <a:ea typeface="Arial"/>
                <a:cs typeface="Arial"/>
              </a:defRPr>
            </a:pPr>
            <a:r>
              <a:rPr sz="2325" b="0">
                <a:solidFill>
                  <a:srgbClr val="18384D"/>
                </a:solidFill>
                <a:latin typeface="Arial"/>
                <a:ea typeface="Arial"/>
                <a:cs typeface="Arial"/>
              </a:rPr>
              <a:t>Capture measures prioritization, not prevention</a:t>
            </a:r>
          </a:p>
        </p:txBody>
      </p:sp>
      <p:sp>
        <p:nvSpPr>
          <p:cNvPr id="4" name="">
            <a:extLst xmlns:a="http://schemas.openxmlformats.org/drawingml/2006/main">
              <a:ext uri="{FF2B5EF4-FFF2-40B4-BE49-F238E27FC236}">
                <a16:creationId xmlns:a16="http://schemas.microsoft.com/office/drawing/2014/main" id="{D283A526-821D-4216-8F88-5807A15BC31C}"/>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8</a:t>
            </a:r>
          </a:p>
        </p:txBody>
      </p:sp>
    </p:spTree>
    <p:extLst>
      <p:ext uri="{BB962C8B-B14F-4D97-AF65-F5344CB8AC3E}">
        <p14:creationId xmlns:p14="http://schemas.microsoft.com/office/powerpoint/2010/main" val="14867891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9A48DCA-2CD6-4779-974A-B32959907AE2}"/>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Reporting gaps and unavailable flight counts limit the decision</a:t>
            </a:r>
          </a:p>
        </p:txBody>
      </p:sp>
      <p:sp>
        <p:nvSpPr>
          <p:cNvPr id="2" name="">
            <a:extLst xmlns:a="http://schemas.openxmlformats.org/drawingml/2006/main">
              <a:ext uri="{FF2B5EF4-FFF2-40B4-BE49-F238E27FC236}">
                <a16:creationId xmlns:a16="http://schemas.microsoft.com/office/drawing/2014/main" id="{EC030F42-0982-46F2-B819-2E23E9D1330F}"/>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No flight exposure or causal treatment comparison</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Selected airports have consistent historical reporting</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Incident history may include delayed reports or later corrections</a:t>
            </a:r>
          </a:p>
        </p:txBody>
      </p:sp>
      <p:sp>
        <p:nvSpPr>
          <p:cNvPr id="3" name="">
            <a:extLst xmlns:a="http://schemas.openxmlformats.org/drawingml/2006/main">
              <a:ext uri="{FF2B5EF4-FFF2-40B4-BE49-F238E27FC236}">
                <a16:creationId xmlns:a16="http://schemas.microsoft.com/office/drawing/2014/main" id="{E86BFEC8-E41B-4C1C-90A5-2D98AEDBA9C0}"/>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9</a:t>
            </a:r>
          </a:p>
        </p:txBody>
      </p:sp>
    </p:spTree>
    <p:extLst>
      <p:ext uri="{BB962C8B-B14F-4D97-AF65-F5344CB8AC3E}">
        <p14:creationId xmlns:p14="http://schemas.microsoft.com/office/powerpoint/2010/main" val="2682091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DB9EB14-A282-4517-82F3-E446B16BF038}"/>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A monitored pilot must verify report timing and measure added value</a:t>
            </a:r>
          </a:p>
        </p:txBody>
      </p:sp>
      <p:sp>
        <p:nvSpPr>
          <p:cNvPr id="2" name="">
            <a:extLst xmlns:a="http://schemas.openxmlformats.org/drawingml/2006/main">
              <a:ext uri="{FF2B5EF4-FFF2-40B4-BE49-F238E27FC236}">
                <a16:creationId xmlns:a16="http://schemas.microsoft.com/office/drawing/2014/main" id="{E8943C1B-BE1C-4D84-90FC-97CB31F0E40F}"/>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Verify which reports are available before each forecast</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Compare monthly lists with the historical baseline</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Record review effort, actionable findings, and missed damaging reports</a:t>
            </a:r>
          </a:p>
        </p:txBody>
      </p:sp>
      <p:sp>
        <p:nvSpPr>
          <p:cNvPr id="3" name="">
            <a:extLst xmlns:a="http://schemas.openxmlformats.org/drawingml/2006/main">
              <a:ext uri="{FF2B5EF4-FFF2-40B4-BE49-F238E27FC236}">
                <a16:creationId xmlns:a16="http://schemas.microsoft.com/office/drawing/2014/main" id="{271E1818-47A8-48EF-BFEE-FCA034F655E8}"/>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10</a:t>
            </a:r>
          </a:p>
        </p:txBody>
      </p:sp>
    </p:spTree>
    <p:extLst>
      <p:ext uri="{BB962C8B-B14F-4D97-AF65-F5344CB8AC3E}">
        <p14:creationId xmlns:p14="http://schemas.microsoft.com/office/powerpoint/2010/main" val="1188023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543357D-A802-471C-AD93-4A17810F50D7}"/>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The airport rule uses training history only</a:t>
            </a:r>
          </a:p>
        </p:txBody>
      </p:sp>
      <p:sp>
        <p:nvSpPr>
          <p:cNvPr id="2" name="">
            <a:extLst xmlns:a="http://schemas.openxmlformats.org/drawingml/2006/main">
              <a:ext uri="{FF2B5EF4-FFF2-40B4-BE49-F238E27FC236}">
                <a16:creationId xmlns:a16="http://schemas.microsoft.com/office/drawing/2014/main" id="{CC5E3B35-5FC2-4F51-80D3-7DB832ECEDF4}"/>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53 eligible airports</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At least 119 of 132 months with reports</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At least 12 damaging months</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2012–2022 selection. ZZZZ excluded</a:t>
            </a:r>
          </a:p>
        </p:txBody>
      </p:sp>
      <p:sp>
        <p:nvSpPr>
          <p:cNvPr id="3" name="">
            <a:extLst xmlns:a="http://schemas.openxmlformats.org/drawingml/2006/main">
              <a:ext uri="{FF2B5EF4-FFF2-40B4-BE49-F238E27FC236}">
                <a16:creationId xmlns:a16="http://schemas.microsoft.com/office/drawing/2014/main" id="{9F4C1662-DC61-494B-A1DB-DE5DFF8C0FBD}"/>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Appendix 1</a:t>
            </a:r>
          </a:p>
        </p:txBody>
      </p:sp>
    </p:spTree>
    <p:extLst>
      <p:ext uri="{BB962C8B-B14F-4D97-AF65-F5344CB8AC3E}">
        <p14:creationId xmlns:p14="http://schemas.microsoft.com/office/powerpoint/2010/main" val="16245608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2D10E6-3323-41C5-94F3-7CCED3C81B82}"/>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The earlier and final evaluations use different review conventions</a:t>
            </a:r>
          </a:p>
        </p:txBody>
      </p:sp>
      <p:sp>
        <p:nvSpPr>
          <p:cNvPr id="2" name="">
            <a:extLst xmlns:a="http://schemas.openxmlformats.org/drawingml/2006/main">
              <a:ext uri="{FF2B5EF4-FFF2-40B4-BE49-F238E27FC236}">
                <a16:creationId xmlns:a16="http://schemas.microsoft.com/office/drawing/2014/main" id="{6EDDDFD8-AD43-4788-A27D-79783A4CFA2C}"/>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Earlier reports used a pooled 20% selection across the year</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Final analysis selects ceil(20% of airports) each month</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The earlier executable code was not supplied</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Final features and settings are documented for reproduction</a:t>
            </a:r>
          </a:p>
        </p:txBody>
      </p:sp>
      <p:sp>
        <p:nvSpPr>
          <p:cNvPr id="3" name="">
            <a:extLst xmlns:a="http://schemas.openxmlformats.org/drawingml/2006/main">
              <a:ext uri="{FF2B5EF4-FFF2-40B4-BE49-F238E27FC236}">
                <a16:creationId xmlns:a16="http://schemas.microsoft.com/office/drawing/2014/main" id="{27C5778E-7363-4DC1-A9A5-BF8AD49A2C34}"/>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Appendix 2</a:t>
            </a:r>
          </a:p>
        </p:txBody>
      </p:sp>
    </p:spTree>
    <p:extLst>
      <p:ext uri="{BB962C8B-B14F-4D97-AF65-F5344CB8AC3E}">
        <p14:creationId xmlns:p14="http://schemas.microsoft.com/office/powerpoint/2010/main" val="16854858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CF244CB-5573-4FD2-B6B0-173241F5B5EE}"/>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Probability accuracy and ranking describe different properties</a:t>
            </a:r>
          </a:p>
        </p:txBody>
      </p:sp>
      <p:sp>
        <p:nvSpPr>
          <p:cNvPr id="2" name="">
            <a:extLst xmlns:a="http://schemas.openxmlformats.org/drawingml/2006/main">
              <a:ext uri="{FF2B5EF4-FFF2-40B4-BE49-F238E27FC236}">
                <a16:creationId xmlns:a16="http://schemas.microsoft.com/office/drawing/2014/main" id="{A2BF171A-FA1A-453B-8B9E-D9666131E996}"/>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Logistic Brier: 0.191. AP: 0.456. AUC: 0.682</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Forest Brier: 0.185. AP: 0.489. AUC: 0.704</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History Brier: 0.194. AP: 0.441</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Lower Brier means less mean squared probability error</a:t>
            </a:r>
          </a:p>
        </p:txBody>
      </p:sp>
      <p:sp>
        <p:nvSpPr>
          <p:cNvPr id="3" name="">
            <a:extLst xmlns:a="http://schemas.openxmlformats.org/drawingml/2006/main">
              <a:ext uri="{FF2B5EF4-FFF2-40B4-BE49-F238E27FC236}">
                <a16:creationId xmlns:a16="http://schemas.microsoft.com/office/drawing/2014/main" id="{99399808-22AA-4026-9C3C-62EAD4259E12}"/>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Appendix 3</a:t>
            </a:r>
          </a:p>
        </p:txBody>
      </p:sp>
    </p:spTree>
    <p:extLst>
      <p:ext uri="{BB962C8B-B14F-4D97-AF65-F5344CB8AC3E}">
        <p14:creationId xmlns:p14="http://schemas.microsoft.com/office/powerpoint/2010/main" val="20416199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712EDB8-F974-491A-A93B-59A87D7C6BC1}"/>
              </a:ext>
            </a:extLst>
          </p:cNvPr>
          <p:cNvSpPr>
            <a:spLocks xmlns:a="http://schemas.openxmlformats.org/drawingml/2006/main" noGrp="1"/>
          </p:cNvSpPr>
          <p:nvPr/>
        </p:nvSpPr>
        <p:spPr>
          <a:xfrm xmlns:a="http://schemas.openxmlformats.org/drawingml/2006/main">
            <a:off x="619125" y="428625"/>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84D"/>
                </a:solidFill>
                <a:latin typeface="Arial"/>
                <a:ea typeface="Arial"/>
                <a:cs typeface="Arial"/>
              </a:defRPr>
            </a:defPPr>
          </a:lstStyle>
          <a:p xmlns:a="http://schemas.openxmlformats.org/drawingml/2006/main">
            <a:pPr>
              <a:defRPr sz="2850" b="1">
                <a:solidFill>
                  <a:srgbClr val="18384D"/>
                </a:solidFill>
                <a:latin typeface="Arial"/>
                <a:ea typeface="Arial"/>
                <a:cs typeface="Arial"/>
              </a:defRPr>
            </a:pPr>
            <a:r>
              <a:rPr sz="2850" b="1">
                <a:solidFill>
                  <a:srgbClr val="18384D"/>
                </a:solidFill>
                <a:latin typeface="Arial"/>
                <a:ea typeface="Arial"/>
                <a:cs typeface="Arial"/>
              </a:rPr>
              <a:t>Stakeholder questions focus on workload and evidence</a:t>
            </a:r>
          </a:p>
        </p:txBody>
      </p:sp>
      <p:sp>
        <p:nvSpPr>
          <p:cNvPr id="2" name="">
            <a:extLst xmlns:a="http://schemas.openxmlformats.org/drawingml/2006/main">
              <a:ext uri="{FF2B5EF4-FFF2-40B4-BE49-F238E27FC236}">
                <a16:creationId xmlns:a16="http://schemas.microsoft.com/office/drawing/2014/main" id="{BC5A38D8-55E0-42E8-8E95-4424049FC91E}"/>
              </a:ext>
            </a:extLst>
          </p:cNvPr>
          <p:cNvSpPr>
            <a:spLocks xmlns:a="http://schemas.openxmlformats.org/drawingml/2006/main" noGrp="1"/>
          </p:cNvSpPr>
          <p:nvPr/>
        </p:nvSpPr>
        <p:spPr>
          <a:xfrm xmlns:a="http://schemas.openxmlformats.org/drawingml/2006/main">
            <a:off x="762000" y="2333625"/>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D"/>
                </a:solidFill>
                <a:latin typeface="Arial"/>
                <a:ea typeface="Arial"/>
                <a:cs typeface="Arial"/>
              </a:defRPr>
            </a:defPPr>
          </a:lstStyle>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Why this airport set? Training-only reporting eligibility</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Does the ranking prevent damage? This study does not test that</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Why use the model? Compare with airport history at equal capacity</a:t>
            </a:r>
          </a:p>
          <a:p xmlns:a="http://schemas.openxmlformats.org/drawingml/2006/main">
            <a:r>
              <a:t/>
            </a:r>
          </a:p>
          <a:p xmlns:a="http://schemas.openxmlformats.org/drawingml/2006/main">
            <a:pPr>
              <a:defRPr sz="2250" b="0">
                <a:solidFill>
                  <a:srgbClr val="18384D"/>
                </a:solidFill>
                <a:latin typeface="Arial"/>
                <a:ea typeface="Arial"/>
                <a:cs typeface="Arial"/>
              </a:defRPr>
            </a:pPr>
            <a:r>
              <a:rPr sz="2250" b="0">
                <a:solidFill>
                  <a:srgbClr val="18384D"/>
                </a:solidFill>
                <a:latin typeface="Arial"/>
                <a:ea typeface="Arial"/>
                <a:cs typeface="Arial"/>
              </a:rPr>
              <a:t>When would you switch? Apply the predefined capture and Brier rule</a:t>
            </a:r>
          </a:p>
        </p:txBody>
      </p:sp>
      <p:sp>
        <p:nvSpPr>
          <p:cNvPr id="3" name="">
            <a:extLst xmlns:a="http://schemas.openxmlformats.org/drawingml/2006/main">
              <a:ext uri="{FF2B5EF4-FFF2-40B4-BE49-F238E27FC236}">
                <a16:creationId xmlns:a16="http://schemas.microsoft.com/office/drawing/2014/main" id="{9C9DF09F-CE0C-4BAB-B597-9B946479EB19}"/>
              </a:ext>
            </a:extLst>
          </p:cNvPr>
          <p:cNvSpPr>
            <a:spLocks xmlns:a="http://schemas.openxmlformats.org/drawingml/2006/main" noGrp="1"/>
          </p:cNvSpPr>
          <p:nvPr/>
        </p:nvSpPr>
        <p:spPr>
          <a:xfrm xmlns:a="http://schemas.openxmlformats.org/drawingml/2006/main">
            <a:off x="10572750" y="6362700"/>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D6A74"/>
                </a:solidFill>
                <a:latin typeface="Arial"/>
                <a:ea typeface="Arial"/>
                <a:cs typeface="Arial"/>
              </a:defRPr>
            </a:defPPr>
          </a:lstStyle>
          <a:p xmlns:a="http://schemas.openxmlformats.org/drawingml/2006/main">
            <a:pPr>
              <a:defRPr sz="1425" b="0">
                <a:solidFill>
                  <a:srgbClr val="5D6A74"/>
                </a:solidFill>
                <a:latin typeface="Arial"/>
                <a:ea typeface="Arial"/>
                <a:cs typeface="Arial"/>
              </a:defRPr>
            </a:pPr>
            <a:r>
              <a:rPr sz="1425" b="0">
                <a:solidFill>
                  <a:srgbClr val="5D6A74"/>
                </a:solidFill>
                <a:latin typeface="Arial"/>
                <a:ea typeface="Arial"/>
                <a:cs typeface="Arial"/>
              </a:rPr>
              <a:t>Appendix 4</a:t>
            </a:r>
          </a:p>
        </p:txBody>
      </p:sp>
    </p:spTree>
    <p:extLst>
      <p:ext uri="{BB962C8B-B14F-4D97-AF65-F5344CB8AC3E}">
        <p14:creationId xmlns:p14="http://schemas.microsoft.com/office/powerpoint/2010/main" val="10507359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2026-10-11T17:35:31.4550000Z</dcterms:created>
  <dcterms:modified xsi:type="dcterms:W3CDTF">2026-10-11T17:35:31.4550000Z</dcterms:modified>
</coreProperties>
</file>